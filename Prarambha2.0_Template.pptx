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75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C910-517B-E530-3EE4-18117B0F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A3640-0BD0-244D-A6BF-5C4CC80CC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F7DF8-A037-2499-3E61-A10101044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4D49B-5E2D-9CFE-7892-8C2B40D85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00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hyperlink" Target="https://readmitflow.vercel.app/" TargetMode="External"/><Relationship Id="rId9" Type="http://schemas.openxmlformats.org/officeDocument/2006/relationships/hyperlink" Target="https://readmitflow-backend.onrender.com" TargetMode="External"/><Relationship Id="rId10" Type="http://schemas.openxmlformats.org/officeDocument/2006/relationships/hyperlink" Target="https://readmitflow-backend.onrender.com/docs" TargetMode="External"/><Relationship Id="rId11" Type="http://schemas.openxmlformats.org/officeDocument/2006/relationships/hyperlink" Target="https://github.com/Omega-127/ReadmitFlow" TargetMode="External"/><Relationship Id="rId12" Type="http://schemas.openxmlformats.org/officeDocument/2006/relationships/hyperlink" Target="https://github.com/Omega-127/ReadmitFlow/blob/main/ARCHITECTURE.md" TargetMode="External"/><Relationship Id="rId13" Type="http://schemas.openxmlformats.org/officeDocument/2006/relationships/hyperlink" Target="https://github.com/Omega-127/ReadmitFlow/blob/main/docs/DEPLOYMENT.md" TargetMode="External"/><Relationship Id="rId14" Type="http://schemas.openxmlformats.org/officeDocument/2006/relationships/hyperlink" Target="https://github.com/Omega-127/ReadmitFlow/blob/main/docs/data-dictionary.md" TargetMode="External"/><Relationship Id="rId15" Type="http://schemas.openxmlformats.org/officeDocument/2006/relationships/hyperlink" Target="https://github.com/Omega-127/ReadmitFlow/blob/main/docs/demo-script.md" TargetMode="External"/><Relationship Id="rId16" Type="http://schemas.openxmlformats.org/officeDocument/2006/relationships/hyperlink" Target="https://readmitflow.vercel.app/model-safet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50273A4-1395-570F-FD1E-CF704FE92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2475" cy="6858000"/>
          </a:xfrm>
          <a:prstGeom prst="rect">
            <a:avLst/>
          </a:prstGeom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C1CDB967-5075-B416-7ECB-8ADB6BD33FE1}"/>
              </a:ext>
            </a:extLst>
          </p:cNvPr>
          <p:cNvSpPr txBox="1"/>
          <p:nvPr/>
        </p:nvSpPr>
        <p:spPr>
          <a:xfrm>
            <a:off x="604198" y="183950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  •  DEPARTMENT OF AI &amp; DATA SCIENCE</a:t>
            </a:r>
            <a:endParaRPr lang="en-US" sz="16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AA2737B5-5026-4F6A-B70C-A10AFD7288AC}"/>
              </a:ext>
            </a:extLst>
          </p:cNvPr>
          <p:cNvSpPr txBox="1"/>
          <p:nvPr/>
        </p:nvSpPr>
        <p:spPr>
          <a:xfrm>
            <a:off x="604198" y="2354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PPT  |  24-HOUR ONLINE HACKATHON</a:t>
            </a:r>
            <a:endParaRPr lang="en-US" sz="14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223F955B-55F9-2DE8-38F1-4BB67DF60C3F}"/>
              </a:ext>
            </a:extLst>
          </p:cNvPr>
          <p:cNvSpPr/>
          <p:nvPr/>
        </p:nvSpPr>
        <p:spPr>
          <a:xfrm>
            <a:off x="604198" y="2778241"/>
            <a:ext cx="420624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CB3D8AC2-D5EB-8B80-F552-D9B641D3B274}"/>
              </a:ext>
            </a:extLst>
          </p:cNvPr>
          <p:cNvSpPr txBox="1"/>
          <p:nvPr/>
        </p:nvSpPr>
        <p:spPr>
          <a:xfrm>
            <a:off x="604198" y="323547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C208CD9C-4098-7760-FB5A-24EB04EB668A}"/>
              </a:ext>
            </a:extLst>
          </p:cNvPr>
          <p:cNvSpPr txBox="1"/>
          <p:nvPr/>
        </p:nvSpPr>
        <p:spPr>
          <a:xfrm>
            <a:off x="3301678" y="323547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ReadmitFlow</a:t>
            </a: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A752A1E0-F8BD-9134-8898-8E2BF9AE4095}"/>
              </a:ext>
            </a:extLst>
          </p:cNvPr>
          <p:cNvSpPr txBox="1"/>
          <p:nvPr/>
        </p:nvSpPr>
        <p:spPr>
          <a:xfrm>
            <a:off x="604198" y="364695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</a:t>
            </a:r>
            <a:endParaRPr lang="en-US" sz="14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F76345B0-DEE8-5C4B-905D-29484B3249DB}"/>
              </a:ext>
            </a:extLst>
          </p:cNvPr>
          <p:cNvSpPr txBox="1"/>
          <p:nvPr/>
        </p:nvSpPr>
        <p:spPr>
          <a:xfrm>
            <a:off x="3301678" y="364695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600" b="1">
                <a:solidFill>
                  <a:srgbClr val="0A1F44"/>
                </a:solidFill>
                <a:latin typeface="Calibri"/>
              </a:defRPr>
            </a:pPr>
            <a:r>
              <a:t>Sarvesh Haldikar</a:t>
            </a:r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DCB9D4D6-6C8A-E0BA-8FE4-725C5B7FB1CC}"/>
              </a:ext>
            </a:extLst>
          </p:cNvPr>
          <p:cNvSpPr txBox="1"/>
          <p:nvPr/>
        </p:nvSpPr>
        <p:spPr>
          <a:xfrm>
            <a:off x="604198" y="405843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4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F2301461-0A54-06FC-35D1-6795FD63D7A9}"/>
              </a:ext>
            </a:extLst>
          </p:cNvPr>
          <p:cNvSpPr txBox="1"/>
          <p:nvPr/>
        </p:nvSpPr>
        <p:spPr>
          <a:xfrm>
            <a:off x="3301678" y="405843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400" b="1">
                <a:solidFill>
                  <a:srgbClr val="0A1F44"/>
                </a:solidFill>
                <a:latin typeface="Calibri"/>
              </a:defRPr>
            </a:pPr>
            <a:r>
              <a:t>Predictive Hospital Readmission Risk for Chronic Disease Patients</a:t>
            </a: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6AD3D2D8-456B-DB62-7256-4269C284D162}"/>
              </a:ext>
            </a:extLst>
          </p:cNvPr>
          <p:cNvSpPr txBox="1"/>
          <p:nvPr/>
        </p:nvSpPr>
        <p:spPr>
          <a:xfrm>
            <a:off x="604198" y="446991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4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CAB80E0C-0000-0678-6562-58EA76D02B74}"/>
              </a:ext>
            </a:extLst>
          </p:cNvPr>
          <p:cNvSpPr txBox="1"/>
          <p:nvPr/>
        </p:nvSpPr>
        <p:spPr>
          <a:xfrm>
            <a:off x="3301678" y="446991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1500" b="1">
                <a:solidFill>
                  <a:srgbClr val="0A1F44"/>
                </a:solidFill>
                <a:latin typeface="Calibri"/>
              </a:defRPr>
            </a:pPr>
            <a:r>
              <a:t>Meditech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ReadmitFlow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822960" y="3200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2600" dirty="0"/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9FE51A4D-A575-B72A-B6CE-FD599EA8EA13}"/>
              </a:ext>
            </a:extLst>
          </p:cNvPr>
          <p:cNvSpPr txBox="1"/>
          <p:nvPr/>
        </p:nvSpPr>
        <p:spPr>
          <a:xfrm>
            <a:off x="1245637" y="386729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A994CD7-F961-D9E8-77BB-9789E22F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sp>
        <p:nvSpPr>
          <p:cNvPr id="69" name="Text 2">
            <a:extLst>
              <a:ext uri="{FF2B5EF4-FFF2-40B4-BE49-F238E27FC236}">
                <a16:creationId xmlns:a16="http://schemas.microsoft.com/office/drawing/2014/main" id="{E458678D-51A2-C2DE-0BA3-C65B038BFFE8}"/>
              </a:ext>
            </a:extLst>
          </p:cNvPr>
          <p:cNvSpPr txBox="1"/>
          <p:nvPr/>
        </p:nvSpPr>
        <p:spPr>
          <a:xfrm>
            <a:off x="1702837" y="1596745"/>
            <a:ext cx="2070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endParaRPr lang="en-US" sz="2000" dirty="0"/>
          </a:p>
        </p:txBody>
      </p:sp>
      <p:sp>
        <p:nvSpPr>
          <p:cNvPr id="71" name="Shape 0">
            <a:extLst>
              <a:ext uri="{FF2B5EF4-FFF2-40B4-BE49-F238E27FC236}">
                <a16:creationId xmlns:a16="http://schemas.microsoft.com/office/drawing/2014/main" id="{B67C173A-BCAB-15DA-0464-425199DF2D4F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C881E6-6DF9-1CC8-DF17-A5BD5943BEEB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A19C2D2B-6DF3-B080-4B4F-8E57D5F5E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EEDA518-3205-967C-0C21-D6C3F682B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80" name="Text 2">
            <a:extLst>
              <a:ext uri="{FF2B5EF4-FFF2-40B4-BE49-F238E27FC236}">
                <a16:creationId xmlns:a16="http://schemas.microsoft.com/office/drawing/2014/main" id="{1ADA5D77-F2FC-8FB1-C71D-19E55F85FD18}"/>
              </a:ext>
            </a:extLst>
          </p:cNvPr>
          <p:cNvSpPr txBox="1"/>
          <p:nvPr/>
        </p:nvSpPr>
        <p:spPr>
          <a:xfrm>
            <a:off x="1702837" y="3886200"/>
            <a:ext cx="18633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</a:t>
            </a:r>
            <a:endParaRPr lang="en-US" sz="2000" dirty="0"/>
          </a:p>
        </p:txBody>
      </p:sp>
      <p:sp>
        <p:nvSpPr>
          <p:cNvPr id="90" name="Shape 0">
            <a:extLst>
              <a:ext uri="{FF2B5EF4-FFF2-40B4-BE49-F238E27FC236}">
                <a16:creationId xmlns:a16="http://schemas.microsoft.com/office/drawing/2014/main" id="{1BD5602D-BB85-A75A-0BA3-B6DE132B58FB}"/>
              </a:ext>
            </a:extLst>
          </p:cNvPr>
          <p:cNvSpPr/>
          <p:nvPr/>
        </p:nvSpPr>
        <p:spPr>
          <a:xfrm>
            <a:off x="1085630" y="391363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6D018-5A94-C567-391A-63300DEDA04C}"/>
              </a:ext>
            </a:extLst>
          </p:cNvPr>
          <p:cNvSpPr txBox="1"/>
          <p:nvPr/>
        </p:nvSpPr>
        <p:spPr>
          <a:xfrm>
            <a:off x="1156975" y="3867912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078992" y="2011680"/>
            <a:ext cx="101498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0A1F44"/>
                </a:solidFill>
                <a:latin typeface="Calibri"/>
              </a:rPr>
              <a:t>• High Readmission Burden in India: </a:t>
            </a:r>
            <a:r>
              <a:rPr sz="1050">
                <a:solidFill>
                  <a:srgbClr val="334155"/>
                </a:solidFill>
                <a:latin typeface="Calibri"/>
              </a:rPr>
              <a:t>In India, chronic disease patients (diabetes, hypertension, COPD, cardiovascular conditions) face 18–25% 30-day unplanned readmission rates, driving catastrophic out-of-pocket healthcare expenses (exceeding ₹1.2–2.5 Lakhs per episode) and straining hospital bed capacity.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0A1F44"/>
                </a:solidFill>
                <a:latin typeface="Calibri"/>
              </a:rPr>
              <a:t>• The 'Black-Box' Trust Barrier: </a:t>
            </a:r>
            <a:r>
              <a:rPr sz="1050">
                <a:solidFill>
                  <a:srgbClr val="334155"/>
                </a:solidFill>
                <a:latin typeface="Calibri"/>
              </a:rPr>
              <a:t>Existing predictive AI tools generate isolated risk percentages without plain-language clinical explanations, breeding physician skepticism, alert fatigue, and low adoption in fast-paced clinical environments.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0A1F44"/>
                </a:solidFill>
                <a:latin typeface="Calibri"/>
              </a:rPr>
              <a:t>• Fragmented Discharge &amp; Follow-up Protocols: </a:t>
            </a:r>
            <a:r>
              <a:rPr sz="1050">
                <a:solidFill>
                  <a:srgbClr val="334155"/>
                </a:solidFill>
                <a:latin typeface="Calibri"/>
              </a:rPr>
              <a:t>Care teams and coordinators lack integrated digital systems connecting risk scores with standardized post-discharge actions, follow-up capacity management, and structured shift handoffs.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78992" y="4297680"/>
            <a:ext cx="1014984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0A1F44"/>
                </a:solidFill>
                <a:latin typeface="Calibri"/>
              </a:rPr>
              <a:t>• Static Scoring Heuristics (LACE / HOSPITAL Index): </a:t>
            </a:r>
            <a:r>
              <a:rPr sz="1050">
                <a:solidFill>
                  <a:srgbClr val="334155"/>
                </a:solidFill>
                <a:latin typeface="Calibri"/>
              </a:rPr>
              <a:t>Manual linear point checklists that miss non-linear vitals, lab interactions, and multi-morbidity patterns, leading to poor discriminative accuracy for chronic care.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0A1F44"/>
                </a:solidFill>
                <a:latin typeface="Calibri"/>
              </a:rPr>
              <a:t>• Opaque Proprietary EHR Risk Engines: </a:t>
            </a:r>
            <a:r>
              <a:rPr sz="1050">
                <a:solidFill>
                  <a:srgbClr val="334155"/>
                </a:solidFill>
                <a:latin typeface="Calibri"/>
              </a:rPr>
              <a:t>Deliver unexplainable probability scores without factor attribution, data-completeness validation, or audit trails for clinician overrides.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0A1F44"/>
                </a:solidFill>
                <a:latin typeface="Calibri"/>
              </a:rPr>
              <a:t>• Disjointed Workflows &amp; Unmonitored Capacity: </a:t>
            </a:r>
            <a:r>
              <a:rPr sz="1050">
                <a:solidFill>
                  <a:srgbClr val="334155"/>
                </a:solidFill>
                <a:latin typeface="Calibri"/>
              </a:rPr>
              <a:t>Follow-up tasks slip through during shift changes due to unstructured notes, lack of coordinator capacity tracking, and no persistent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ReadmitFlow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A8A2DA-E1D2-D46D-A40E-C45448BAE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B752C8-CB38-43AE-7109-BF97CC3207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A039D6E-6303-DD08-E971-4F746FCD3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2" name="Text 2">
            <a:extLst>
              <a:ext uri="{FF2B5EF4-FFF2-40B4-BE49-F238E27FC236}">
                <a16:creationId xmlns:a16="http://schemas.microsoft.com/office/drawing/2014/main" id="{DAC4CF39-1DE4-B326-8FE4-F5DADFCA293C}"/>
              </a:ext>
            </a:extLst>
          </p:cNvPr>
          <p:cNvSpPr txBox="1"/>
          <p:nvPr/>
        </p:nvSpPr>
        <p:spPr>
          <a:xfrm>
            <a:off x="1702837" y="1596745"/>
            <a:ext cx="2070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8E89DB8-A235-6B56-B3C5-AFFB7DC33FEC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E5693F-44D4-DB94-F057-FDDF73F9B215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78992" y="20574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  <a:defRPr sz="1200" b="1">
                <a:solidFill>
                  <a:srgbClr val="0369A1"/>
                </a:solidFill>
                <a:latin typeface="Calibri"/>
              </a:defRPr>
            </a:pPr>
            <a:r>
              <a:t>01. Explainable Risk Stratification &amp; Drivers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Machine learning scoring trained on encounter features (prior utilization, comorbidities, vitals).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Transparent plain-language risk factors (e.g. '3 prior ER visits in 12m', 'High acute LOS').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Instant clinical interpretation replacing confusing black-box scores for chronic care.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20574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  <a:defRPr sz="1200" b="1">
                <a:solidFill>
                  <a:srgbClr val="4338CA"/>
                </a:solidFill>
                <a:latin typeface="Calibri"/>
              </a:defRPr>
            </a:pPr>
            <a:r>
              <a:t>02. Prediction Confidence &amp; Data-Quality Guard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Real-time data integrity guard flagging missing fields, sparse data, or abnormal vitals.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Clinical honesty boundary: explicit 'Demo Only' notices and model limitation transparency.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Ensures clinical staff know exactly when input data is complete or uncertain.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" y="41148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Calibri"/>
              </a:defRPr>
            </a:pPr>
            <a:r>
              <a:t>03. Actionable Templates &amp; Human-in-the-Loop Override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Evidence-based follow-up templates (48h Phone Call, Med Reconciliation, Outpatient Slot).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Clinicians retain 100% final authority: adjust recommendations or change risk priority.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Immutable, timestamped audit trail recording staff member, action, and rationale.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91072" y="4114800"/>
            <a:ext cx="4937760" cy="187451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  <a:defRPr sz="1200" b="1">
                <a:solidFill>
                  <a:srgbClr val="BE185D"/>
                </a:solidFill>
                <a:latin typeface="Calibri"/>
              </a:defRPr>
            </a:pPr>
            <a:r>
              <a:t>04. Care Capacity Planner &amp; 1-Click Shift Handoff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Daily capacity allocator prevents care coordinator burnout by enforcing slot limits.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1-Click Shift Handoff generation in PDF (jsPDF), CSV, and TXT with safety notices.</a:t>
            </a:r>
          </a:p>
          <a:p>
            <a:pPr algn="l">
              <a:spcAft>
                <a:spcPts val="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Ensures seamless nursing transitions and zero dropped patient follow-ups.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ReadmitFlow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14EEFA-B7EA-B41A-0077-D2D5AD15E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29858F2-17C0-9232-B9A6-6E9BEB561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450E97F-323E-D6C8-B069-201AA4978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CB8910B0-8890-D4E7-25A6-5A865796A105}"/>
              </a:ext>
            </a:extLst>
          </p:cNvPr>
          <p:cNvSpPr txBox="1"/>
          <p:nvPr/>
        </p:nvSpPr>
        <p:spPr>
          <a:xfrm>
            <a:off x="1702836" y="1666035"/>
            <a:ext cx="5642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Architecture/Block diagram/Flow Diagram</a:t>
            </a:r>
            <a:endParaRPr lang="en-US" sz="20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1B478EA9-4C2F-F231-47B6-C8C06477D7E4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E814AA-59DA-31E3-FA03-C6D018DDD2C5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6" name="Picture 35" descr="architecture_diagram_transpar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2011680"/>
            <a:ext cx="1014984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kt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60120" cy="466344"/>
          </a:xfrm>
          <a:prstGeom prst="rect">
            <a:avLst/>
          </a:prstGeom>
        </p:spPr>
      </p:pic>
      <p:pic>
        <p:nvPicPr>
          <p:cNvPr id="3" name="Image 1" descr="/home/claude/dss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164592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0292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097280" y="832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AFC6E8"/>
                </a:solidFill>
                <a:latin typeface="Calibri"/>
              </a:defRPr>
            </a:pPr>
            <a:r>
              <a:t>Team Name: ReadmitFlow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B2CF5BB-9048-97EB-80F2-77A41A13D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0712FC6-9A92-1846-E918-6464D020EE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23D793B-8444-B788-E987-158A04A7A3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6" name="Text 2">
            <a:extLst>
              <a:ext uri="{FF2B5EF4-FFF2-40B4-BE49-F238E27FC236}">
                <a16:creationId xmlns:a16="http://schemas.microsoft.com/office/drawing/2014/main" id="{C2F234BB-DB92-0CD1-EE54-06E197D7AEB4}"/>
              </a:ext>
            </a:extLst>
          </p:cNvPr>
          <p:cNvSpPr txBox="1"/>
          <p:nvPr/>
        </p:nvSpPr>
        <p:spPr>
          <a:xfrm>
            <a:off x="1702836" y="1642465"/>
            <a:ext cx="23052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Stack</a:t>
            </a:r>
            <a:endParaRPr lang="en-US" sz="200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158F44AD-412C-C754-EE2D-C2307384B377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13AA0-9731-3FF9-DDF3-D623EBF7C997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DA50891-40F1-6118-E214-ED1EFA2241CD}"/>
              </a:ext>
            </a:extLst>
          </p:cNvPr>
          <p:cNvSpPr txBox="1"/>
          <p:nvPr/>
        </p:nvSpPr>
        <p:spPr>
          <a:xfrm>
            <a:off x="1702836" y="3886200"/>
            <a:ext cx="2914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and Benefit</a:t>
            </a:r>
            <a:endParaRPr lang="en-US" sz="20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0317CC4-3A22-1F3D-AD6D-D89910F62185}"/>
              </a:ext>
            </a:extLst>
          </p:cNvPr>
          <p:cNvSpPr/>
          <p:nvPr/>
        </p:nvSpPr>
        <p:spPr>
          <a:xfrm>
            <a:off x="1076681" y="391363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7B8F0-AE45-3CA3-9329-FA6CE915B995}"/>
              </a:ext>
            </a:extLst>
          </p:cNvPr>
          <p:cNvSpPr txBox="1"/>
          <p:nvPr/>
        </p:nvSpPr>
        <p:spPr>
          <a:xfrm>
            <a:off x="1148026" y="3867912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78992" y="1965960"/>
            <a:ext cx="3291840" cy="1737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300"/>
              </a:spcAft>
              <a:defRPr sz="1150" b="1">
                <a:solidFill>
                  <a:srgbClr val="0369A1"/>
                </a:solidFill>
                <a:latin typeface="Calibri"/>
              </a:defRPr>
            </a:pPr>
            <a:r>
              <a:t>Frontend &amp; UI Experience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Next.js 14 (App Router) &amp; React 18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TypeScript for strict end-to-end typing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Tailwind CSS 3 &amp; shadcn/ui (Radix)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Lucide React Icons &amp; jsPDF Client Engine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6280" y="1965960"/>
            <a:ext cx="3291840" cy="1737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300"/>
              </a:spcAft>
              <a:defRPr sz="1150" b="1">
                <a:solidFill>
                  <a:srgbClr val="0F766E"/>
                </a:solidFill>
                <a:latin typeface="Calibri"/>
              </a:defRPr>
            </a:pPr>
            <a:r>
              <a:t>Backend API &amp; ML Services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FastAPI &amp; Uvicorn Async Web Server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Pydantic v2 Schema Validation Contracts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scikit-learn Baseline &amp; Logistic Regression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pandas, NumPy &amp; joblib Model Serialization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3568" y="1965960"/>
            <a:ext cx="3291840" cy="1737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300"/>
              </a:spcAft>
              <a:defRPr sz="1150" b="1">
                <a:solidFill>
                  <a:srgbClr val="4338CA"/>
                </a:solidFill>
                <a:latin typeface="Calibri"/>
              </a:defRPr>
            </a:pPr>
            <a:r>
              <a:t>Data, DevOps &amp; Cloud Hosting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Synthea Synthetic EHR ETL Pipeline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Docker &amp; Docker Compose Orchestration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Render (Containerized API Backend)</a:t>
            </a:r>
          </a:p>
          <a:p>
            <a:pPr algn="l">
              <a:spcAft>
                <a:spcPts val="1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Vercel (Edge Hosted Next.js Frontend)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8992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400"/>
              </a:spcAft>
              <a:defRPr sz="1150" b="1">
                <a:solidFill>
                  <a:srgbClr val="0369A1"/>
                </a:solidFill>
                <a:latin typeface="Calibri"/>
              </a:defRPr>
            </a:pPr>
            <a:r>
              <a:t>Clinical Efficacy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15–25% reduction in preventable 30-day readmissions through early, risk-stratified post-discharge interventions.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400"/>
              </a:spcAft>
              <a:defRPr sz="1150" b="1">
                <a:solidFill>
                  <a:srgbClr val="0F766E"/>
                </a:solidFill>
                <a:latin typeface="Calibri"/>
              </a:defRPr>
            </a:pPr>
            <a:r>
              <a:t>Care Team Efficiency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Capacity-aware slot allocation prevents staff burnout; 1-click PDF/CSV handoffs eliminate shift transition errors.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6208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400"/>
              </a:spcAft>
              <a:defRPr sz="1150" b="1">
                <a:solidFill>
                  <a:srgbClr val="4338CA"/>
                </a:solidFill>
                <a:latin typeface="Calibri"/>
              </a:defRPr>
            </a:pPr>
            <a:r>
              <a:t>Safety &amp; Clinician Trust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Plain-language drivers + data-quality flags + 100% human-approved action audit trails ensure safe decision support.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14816" y="4297680"/>
            <a:ext cx="2423160" cy="1783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400"/>
              </a:spcAft>
              <a:defRPr sz="1150" b="1">
                <a:solidFill>
                  <a:srgbClr val="BE185D"/>
                </a:solidFill>
                <a:latin typeface="Calibri"/>
              </a:defRPr>
            </a:pPr>
            <a:r>
              <a:t>Financial &amp; Social ROI</a:t>
            </a:r>
          </a:p>
          <a:p>
            <a:pPr algn="l">
              <a:defRPr sz="950">
                <a:solidFill>
                  <a:srgbClr val="334155"/>
                </a:solidFill>
                <a:latin typeface="Calibri"/>
              </a:defRPr>
            </a:pPr>
            <a:r>
              <a:t>Prevents catastrophic out-of-pocket costs for families, optimizes hospital bed turnover, and reduces uncompensated care.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516C9-809C-9184-AE4F-B1382755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kte_logo.png">
            <a:extLst>
              <a:ext uri="{FF2B5EF4-FFF2-40B4-BE49-F238E27FC236}">
                <a16:creationId xmlns:a16="http://schemas.microsoft.com/office/drawing/2014/main" id="{C6273A1D-D3B4-CD9C-EC18-818C10F77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60120" cy="466344"/>
          </a:xfrm>
          <a:prstGeom prst="rect">
            <a:avLst/>
          </a:prstGeom>
        </p:spPr>
      </p:pic>
      <p:pic>
        <p:nvPicPr>
          <p:cNvPr id="3" name="Image 1" descr="/home/claude/dssa_logo.png">
            <a:extLst>
              <a:ext uri="{FF2B5EF4-FFF2-40B4-BE49-F238E27FC236}">
                <a16:creationId xmlns:a16="http://schemas.microsoft.com/office/drawing/2014/main" id="{4260F0D3-0C40-CD60-6F19-15730A282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164592"/>
            <a:ext cx="566928" cy="566928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934BDC43-F881-0CF4-730C-18EC95B349D9}"/>
              </a:ext>
            </a:extLst>
          </p:cNvPr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C143909-AD38-5D3A-EA68-3413A4E37FCA}"/>
              </a:ext>
            </a:extLst>
          </p:cNvPr>
          <p:cNvSpPr txBox="1"/>
          <p:nvPr/>
        </p:nvSpPr>
        <p:spPr>
          <a:xfrm>
            <a:off x="50292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EB723E3-899D-2DDA-298F-DE6A314BE857}"/>
              </a:ext>
            </a:extLst>
          </p:cNvPr>
          <p:cNvSpPr txBox="1"/>
          <p:nvPr/>
        </p:nvSpPr>
        <p:spPr>
          <a:xfrm>
            <a:off x="1097280" y="832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D24AFCA-75FC-3F02-F636-9C5B69156B44}"/>
              </a:ext>
            </a:extLst>
          </p:cNvPr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F5AF1EA-D65D-2979-5051-18F44B5F3FC7}"/>
              </a:ext>
            </a:extLst>
          </p:cNvPr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defRPr sz="950">
                <a:solidFill>
                  <a:srgbClr val="6E7C93"/>
                </a:solidFill>
                <a:latin typeface="Calibri"/>
              </a:defRPr>
            </a:pPr>
            <a:r>
              <a:t>Team Name: ReadmitFlow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8D516B-794C-BD05-679A-6BD0F423B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0833A7-C481-A3B4-3165-50B6C7271D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17F858-7787-4C55-0D03-9937A661FC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AB164B9B-6BD0-0A26-530C-2D076340F315}"/>
              </a:ext>
            </a:extLst>
          </p:cNvPr>
          <p:cNvSpPr txBox="1"/>
          <p:nvPr/>
        </p:nvSpPr>
        <p:spPr>
          <a:xfrm>
            <a:off x="1615595" y="1644573"/>
            <a:ext cx="6918650" cy="30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 , website URL, documents to be used. </a:t>
            </a: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D895F1E1-FE09-3F39-692C-2AD932C7FF26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E1174F-E4A5-4117-3D4D-6F751DF82157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78992" y="205740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800"/>
              </a:spcAft>
              <a:defRPr sz="1200" b="1">
                <a:solidFill>
                  <a:srgbClr val="0369A1"/>
                </a:solidFill>
                <a:latin typeface="Calibri"/>
              </a:defRPr>
            </a:pPr>
            <a:r>
              <a:t>Live Deployments &amp; Interactive Links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Frontend App: </a:t>
            </a:r>
            <a:r>
              <a:rPr sz="880" u="sng">
                <a:solidFill>
                  <a:srgbClr val="0284C7"/>
                </a:solidFill>
                <a:latin typeface="Calibri"/>
                <a:hlinkClick r:id="rId8"/>
              </a:rPr>
              <a:t>https://readmitflow.vercel.app/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Backend API: </a:t>
            </a:r>
            <a:r>
              <a:rPr sz="880" u="sng">
                <a:solidFill>
                  <a:srgbClr val="0284C7"/>
                </a:solidFill>
                <a:latin typeface="Calibri"/>
                <a:hlinkClick r:id="rId9"/>
              </a:rPr>
              <a:t>https://readmitflow-backend.onrender.com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Swagger / OpenAPI: </a:t>
            </a:r>
            <a:r>
              <a:rPr sz="880" u="sng">
                <a:solidFill>
                  <a:srgbClr val="0284C7"/>
                </a:solidFill>
                <a:latin typeface="Calibri"/>
                <a:hlinkClick r:id="rId10"/>
              </a:rPr>
              <a:t>https://readmitflow-backend.onrender.com/docs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GitHub Repository: </a:t>
            </a:r>
            <a:r>
              <a:rPr sz="880" u="sng">
                <a:solidFill>
                  <a:srgbClr val="0284C7"/>
                </a:solidFill>
                <a:latin typeface="Calibri"/>
                <a:hlinkClick r:id="rId11"/>
              </a:rPr>
              <a:t>https://github.com/Omega-127/ReadmitFlow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Offline Fallback: </a:t>
            </a:r>
            <a:r>
              <a:rPr sz="880">
                <a:solidFill>
                  <a:srgbClr val="334155"/>
                </a:solidFill>
                <a:latin typeface="Calibri"/>
              </a:rPr>
              <a:t>Built-in mock mode guarantees 100% demo uptime without network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205740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800"/>
              </a:spcAft>
              <a:defRPr sz="1200" b="1">
                <a:solidFill>
                  <a:srgbClr val="0F766E"/>
                </a:solidFill>
                <a:latin typeface="Calibri"/>
              </a:defRPr>
            </a:pPr>
            <a:r>
              <a:t>Project Documentation &amp; Guides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ARCHITECTURE.md: </a:t>
            </a:r>
            <a:r>
              <a:rPr sz="880" u="sng">
                <a:solidFill>
                  <a:srgbClr val="0284C7"/>
                </a:solidFill>
                <a:latin typeface="Calibri"/>
                <a:hlinkClick r:id="rId12"/>
              </a:rPr>
              <a:t>End-to-end system design, module contracts, and ETL pipelines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DEPLOYMENT.md: </a:t>
            </a:r>
            <a:r>
              <a:rPr sz="880" u="sng">
                <a:solidFill>
                  <a:srgbClr val="0284C7"/>
                </a:solidFill>
                <a:latin typeface="Calibri"/>
                <a:hlinkClick r:id="rId13"/>
              </a:rPr>
              <a:t>Multi-cloud deployment instructions &amp; Docker Compose setup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data-dictionary.md: </a:t>
            </a:r>
            <a:r>
              <a:rPr sz="880" u="sng">
                <a:solidFill>
                  <a:srgbClr val="0284C7"/>
                </a:solidFill>
                <a:latin typeface="Calibri"/>
                <a:hlinkClick r:id="rId14"/>
              </a:rPr>
              <a:t>Clinical feature definitions, data types, and synthetic mappings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demo-script.md: </a:t>
            </a:r>
            <a:r>
              <a:rPr sz="880" u="sng">
                <a:solidFill>
                  <a:srgbClr val="0284C7"/>
                </a:solidFill>
                <a:latin typeface="Calibri"/>
                <a:hlinkClick r:id="rId15"/>
              </a:rPr>
              <a:t>Judge presentation flow with 5 guided clinical demo scenarios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Model &amp; Safety Page: </a:t>
            </a:r>
            <a:r>
              <a:rPr sz="880" u="sng">
                <a:solidFill>
                  <a:srgbClr val="0284C7"/>
                </a:solidFill>
                <a:latin typeface="Calibri"/>
                <a:hlinkClick r:id="rId16"/>
              </a:rPr>
              <a:t>In-app metrics, confusion matrix, and safety boundaries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205740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800"/>
              </a:spcAft>
              <a:defRPr sz="1200" b="1">
                <a:solidFill>
                  <a:srgbClr val="4338CA"/>
                </a:solidFill>
                <a:latin typeface="Calibri"/>
              </a:defRPr>
            </a:pPr>
            <a:r>
              <a:t>Clinical Research &amp; References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Chronic Disease &amp; Readmission: </a:t>
            </a:r>
            <a:r>
              <a:rPr sz="880">
                <a:solidFill>
                  <a:srgbClr val="334155"/>
                </a:solidFill>
                <a:latin typeface="Calibri"/>
              </a:rPr>
              <a:t>Epidemiological studies on COPD, Diabetes, and Heart Failure readmission patterns in Indian tertiary care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Synthea™ Patient Simulator: </a:t>
            </a:r>
            <a:r>
              <a:rPr sz="880">
                <a:solidFill>
                  <a:srgbClr val="334155"/>
                </a:solidFill>
                <a:latin typeface="Calibri"/>
              </a:rPr>
              <a:t>Walonoski et al., 'Synthea: Synthetic electronic health record simulator', JAMIA 2018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Explainable AI (XAI): </a:t>
            </a:r>
            <a:r>
              <a:rPr sz="880">
                <a:solidFill>
                  <a:srgbClr val="334155"/>
                </a:solidFill>
                <a:latin typeface="Calibri"/>
              </a:rPr>
              <a:t>Lundberg et al., 'Explainable machine learning in healthcare', Nature Biomedical Eng.</a:t>
            </a:r>
          </a:p>
          <a:p>
            <a:pPr algn="l">
              <a:spcAft>
                <a:spcPts val="600"/>
              </a:spcAft>
            </a:pPr>
            <a:r>
              <a:rPr b="1" sz="950">
                <a:solidFill>
                  <a:srgbClr val="0A1F44"/>
                </a:solidFill>
                <a:latin typeface="Calibri"/>
              </a:rPr>
              <a:t>• I-PASS Handoff Study: </a:t>
            </a:r>
            <a:r>
              <a:rPr sz="880">
                <a:solidFill>
                  <a:srgbClr val="334155"/>
                </a:solidFill>
                <a:latin typeface="Calibri"/>
              </a:rPr>
              <a:t>Starmer et al., 'Changes in Medical Errors with a Handoff Program', NEJM 2014</a:t>
            </a:r>
          </a:p>
        </p:txBody>
      </p:sp>
    </p:spTree>
    <p:extLst>
      <p:ext uri="{BB962C8B-B14F-4D97-AF65-F5344CB8AC3E}">
        <p14:creationId xmlns:p14="http://schemas.microsoft.com/office/powerpoint/2010/main" val="62870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386C887-4D97-2D5F-5DB7-55E347FAD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2475" cy="685800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82958240-41E5-ECBE-FB59-B18063CC0E77}"/>
              </a:ext>
            </a:extLst>
          </p:cNvPr>
          <p:cNvSpPr txBox="1"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56EC7F0-DA3B-47B9-3592-54C51CEE071F}"/>
              </a:ext>
            </a:extLst>
          </p:cNvPr>
          <p:cNvSpPr txBox="1"/>
          <p:nvPr/>
        </p:nvSpPr>
        <p:spPr>
          <a:xfrm>
            <a:off x="0" y="37947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00B0F0"/>
                </a:solidFill>
                <a:latin typeface="Calibri"/>
              </a:defRPr>
            </a:pPr>
            <a:r>
              <a:t>Team Name: ReadmitFlow  |  Team Leader: Sarvesh Haldikar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DC5368E-A6F1-22E8-F2BE-2540C25BC72B}"/>
              </a:ext>
            </a:extLst>
          </p:cNvPr>
          <p:cNvSpPr txBox="1"/>
          <p:nvPr/>
        </p:nvSpPr>
        <p:spPr>
          <a:xfrm>
            <a:off x="-6477" y="6493397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PRARAMBHA 2.0 — DSSA, Department of AI &amp; DS, D.K.T.E.S. IET, Ichalkaranji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E5C557A-A0C8-0C84-CED8-D0AFC3A1F863}"/>
              </a:ext>
            </a:extLst>
          </p:cNvPr>
          <p:cNvSpPr txBox="1"/>
          <p:nvPr/>
        </p:nvSpPr>
        <p:spPr>
          <a:xfrm>
            <a:off x="3413397" y="4231433"/>
            <a:ext cx="5349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201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Gavali</cp:lastModifiedBy>
  <cp:revision>10</cp:revision>
  <dcterms:created xsi:type="dcterms:W3CDTF">2026-09-19T16:33:17Z</dcterms:created>
  <dcterms:modified xsi:type="dcterms:W3CDTF">2026-09-20T04:28:31Z</dcterms:modified>
</cp:coreProperties>
</file>